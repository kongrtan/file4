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메시지 게이트웨이 시스템 아키텍처 구성도 (MessageFarm &amp; Kafka Infra)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846320" cy="5303520"/>
          </a:xfrm>
          <a:prstGeom prst="roundRect">
            <a:avLst/>
          </a:prstGeom>
          <a:solidFill>
            <a:srgbClr val="1F293D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280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MessageFarm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11680"/>
            <a:ext cx="3108960" cy="3474720"/>
          </a:xfrm>
          <a:prstGeom prst="roundRect">
            <a:avLst/>
          </a:prstGeom>
          <a:solidFill>
            <a:srgbClr val="243042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kafka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377440" cy="1371600"/>
          </a:xfrm>
          <a:prstGeom prst="roundRect">
            <a:avLst/>
          </a:prstGeom>
          <a:solidFill>
            <a:srgbClr val="1E222B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Receiver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182880"/>
            <a:ext cx="1188720" cy="731520"/>
          </a:xfrm>
          <a:prstGeom prst="ellipse">
            <a:avLst/>
          </a:prstGeom>
          <a:solidFill>
            <a:srgbClr val="161A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사용자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280160"/>
            <a:ext cx="2560320" cy="457200"/>
          </a:xfrm>
          <a:prstGeom prst="rect">
            <a:avLst/>
          </a:prstGeom>
          <a:solidFill>
            <a:srgbClr val="161A2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k8s Ingress / 인프라 LB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920240"/>
            <a:ext cx="2194560" cy="640080"/>
          </a:xfrm>
          <a:prstGeom prst="rect">
            <a:avLst/>
          </a:prstGeom>
          <a:solidFill>
            <a:srgbClr val="161A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Pod A</a:t>
            </a:r>
            <a:br/>
            <a:r>
              <a:t>🟢 HTTP 수신처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931920"/>
            <a:ext cx="2194560" cy="640080"/>
          </a:xfrm>
          <a:prstGeom prst="rect">
            <a:avLst/>
          </a:prstGeom>
          <a:solidFill>
            <a:srgbClr val="161A2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Pod B</a:t>
            </a:r>
            <a:br/>
            <a:r>
              <a:t>⚡ Kafka 컨슘 주체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937760"/>
            <a:ext cx="2743200" cy="457200"/>
          </a:xfrm>
          <a:prstGeom prst="rect">
            <a:avLst/>
          </a:prstGeom>
          <a:solidFill>
            <a:srgbClr val="161A22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Redis: Pub/Sub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760720"/>
            <a:ext cx="1463040" cy="457200"/>
          </a:xfrm>
          <a:prstGeom prst="rect">
            <a:avLst/>
          </a:prstGeom>
          <a:solidFill>
            <a:srgbClr val="161A2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Pod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468880"/>
            <a:ext cx="2194560" cy="548640"/>
          </a:xfrm>
          <a:prstGeom prst="rect">
            <a:avLst/>
          </a:prstGeom>
          <a:solidFill>
            <a:srgbClr val="161A2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Kafka: Request Topic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389120"/>
            <a:ext cx="2194560" cy="548640"/>
          </a:xfrm>
          <a:prstGeom prst="rect">
            <a:avLst/>
          </a:prstGeom>
          <a:solidFill>
            <a:srgbClr val="161A22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Kafka: Response Topic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18288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Malgun Gothic"/>
              </a:defRPr>
            </a:pPr>
            <a:r>
              <a:t>라인·설비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914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8BDF8"/>
                </a:solidFill>
                <a:latin typeface="Malgun Gothic"/>
              </a:defRPr>
            </a:pPr>
            <a:r>
              <a:t>HTTP REST 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Malgun Gothic"/>
              </a:defRPr>
            </a:pPr>
            <a:r>
              <a:t>랜덤 로드밸런싱 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8BDF8"/>
                </a:solidFill>
                <a:latin typeface="Malgun Gothic"/>
              </a:defRPr>
            </a:pPr>
            <a:r>
              <a:t>1. Produce</a:t>
            </a:r>
            <a:br/>
            <a:r>
              <a:t>⮜━━━━━━━━━━━━━━━━━━━━━━━━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Malgun Gothic"/>
              </a:defRPr>
            </a:pPr>
            <a:r>
              <a:t>2. Consume</a:t>
            </a:r>
            <a:br/>
            <a:r>
              <a:t>━━━━━━━━━━━━━━━━━━━━━━━━⮞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4A3B8"/>
                </a:solidFill>
                <a:latin typeface="Malgun Gothic"/>
              </a:defRPr>
            </a:pPr>
            <a:r>
              <a:t>3. Produce</a:t>
            </a:r>
            <a:br/>
            <a:r>
              <a:t>━━━━━━━━━━━━━━━━━━━━━━━━⮞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38BDF8"/>
                </a:solidFill>
                <a:latin typeface="Malgun Gothic"/>
              </a:defRPr>
            </a:pPr>
            <a:r>
              <a:t>3. Consume</a:t>
            </a:r>
            <a:br/>
            <a:r>
              <a:t>⮜━━━━━━━━━━━━━━━━━━━━━━━━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D9488"/>
                </a:solidFill>
                <a:latin typeface="Malgun Gothic"/>
              </a:defRPr>
            </a:pPr>
            <a:r>
              <a:t>4. Pub</a:t>
            </a:r>
            <a:br/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D9488"/>
                </a:solidFill>
                <a:latin typeface="Malgun Gothic"/>
              </a:defRPr>
            </a:pPr>
            <a:r>
              <a:t>⮝   5. Sub Broadcast   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0D9488"/>
                </a:solidFill>
                <a:latin typeface="Malgun Gothic"/>
              </a:defRPr>
            </a:pPr>
            <a:r>
              <a:t>5. Sub Broadcast  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394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D9488"/>
                </a:solidFill>
                <a:latin typeface="Malgun Gothic"/>
              </a:defRPr>
            </a:pPr>
            <a:r>
              <a:t>5. Sub Broadcast</a:t>
            </a:r>
            <a:br/>
            <a: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731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8BDF8"/>
                </a:solidFill>
                <a:latin typeface="Malgun Gothic"/>
              </a:defRPr>
            </a:pPr>
            <a:r>
              <a:t>6. HTTP Response</a:t>
            </a:r>
            <a:br/>
            <a:r>
              <a:t>⮝.................................................................................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