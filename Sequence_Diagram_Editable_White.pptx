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메시지 게이트웨이 Request-Reply 패턴 시퀀스 다이어그램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640080"/>
            <a:ext cx="822960" cy="4572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E293B"/>
                </a:solidFill>
                <a:latin typeface="Malgun Gothic"/>
              </a:defRPr>
            </a:pPr>
            <a:r>
              <a:t>사용자 (User)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" y="1097280"/>
            <a:ext cx="18288" cy="5486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91640" y="731520"/>
            <a:ext cx="10058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E293B"/>
                </a:solidFill>
                <a:latin typeface="Malgun Gothic"/>
              </a:defRPr>
            </a:pPr>
            <a:r>
              <a:t>.NET 10 (Pod A)</a:t>
            </a:r>
          </a:p>
        </p:txBody>
      </p:sp>
      <p:sp>
        <p:nvSpPr>
          <p:cNvPr id="7" name="Rectangle 6"/>
          <p:cNvSpPr/>
          <p:nvPr/>
        </p:nvSpPr>
        <p:spPr>
          <a:xfrm>
            <a:off x="2185416" y="1097280"/>
            <a:ext cx="18288" cy="5486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731520"/>
            <a:ext cx="10058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E293B"/>
                </a:solidFill>
                <a:latin typeface="Malgun Gothic"/>
              </a:defRPr>
            </a:pPr>
            <a:r>
              <a:t>Redis (Pub/Sub)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22776" y="1097280"/>
            <a:ext cx="18288" cy="5486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731520"/>
            <a:ext cx="10058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E293B"/>
                </a:solidFill>
                <a:latin typeface="Malgun Gothic"/>
              </a:defRPr>
            </a:pPr>
            <a:r>
              <a:t>Kafka (Request 토픽)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1576" y="1097280"/>
            <a:ext cx="18288" cy="5486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86600" y="731520"/>
            <a:ext cx="10058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E293B"/>
                </a:solidFill>
                <a:latin typeface="Malgun Gothic"/>
              </a:defRPr>
            </a:pPr>
            <a:r>
              <a:t>기간계 시스템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0376" y="1097280"/>
            <a:ext cx="18288" cy="5486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15400" y="731520"/>
            <a:ext cx="10058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E293B"/>
                </a:solidFill>
                <a:latin typeface="Malgun Gothic"/>
              </a:defRPr>
            </a:pPr>
            <a:r>
              <a:t>Kafka (Reply 토픽)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09176" y="1097280"/>
            <a:ext cx="18288" cy="5486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61320" y="731520"/>
            <a:ext cx="100584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E293B"/>
                </a:solidFill>
                <a:latin typeface="Malgun Gothic"/>
              </a:defRPr>
            </a:pPr>
            <a:r>
              <a:t>.NET 10 (Pod 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55096" y="1097280"/>
            <a:ext cx="18288" cy="5486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143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563EB"/>
                </a:solidFill>
                <a:latin typeface="Malgun Gothic"/>
              </a:defRPr>
            </a:pPr>
            <a:r>
              <a:t>1. HTTP REST 요청 (Data)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8640" y="1371600"/>
            <a:ext cx="1645920" cy="3657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8720" y="1645920"/>
            <a:ext cx="2011680" cy="457200"/>
          </a:xfrm>
          <a:prstGeom prst="rect">
            <a:avLst/>
          </a:prstGeom>
          <a:solidFill>
            <a:srgbClr val="FEF08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1E293B"/>
                </a:solidFill>
                <a:latin typeface="Malgun Gothic"/>
              </a:defRPr>
            </a:pPr>
            <a:r>
              <a:t>Correlation ID 생성</a:t>
            </a:r>
            <a:br/>
            <a:r>
              <a:t>Memory 사전(Dictionary)에 대기 등록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1488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563EB"/>
                </a:solidFill>
                <a:latin typeface="Malgun Gothic"/>
              </a:defRPr>
            </a:pPr>
            <a:r>
              <a:t>2. Kafka Produce (Data + Correlation ID)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194560" y="2377440"/>
            <a:ext cx="3566160" cy="3657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563EB"/>
                </a:solidFill>
                <a:latin typeface="Malgun Gothic"/>
              </a:defRPr>
            </a:pPr>
            <a:r>
              <a:t>3. 메시지 소비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760720" y="2834640"/>
            <a:ext cx="1828800" cy="3657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3200400"/>
            <a:ext cx="1463040" cy="274320"/>
          </a:xfrm>
          <a:prstGeom prst="rect">
            <a:avLst/>
          </a:prstGeom>
          <a:solidFill>
            <a:srgbClr val="FEF08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1E293B"/>
                </a:solidFill>
                <a:latin typeface="Malgun Gothic"/>
              </a:defRPr>
            </a:pPr>
            <a:r>
              <a:t>비즈니스 로직 수행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5204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563EB"/>
                </a:solidFill>
                <a:latin typeface="Malgun Gothic"/>
              </a:defRPr>
            </a:pPr>
            <a:r>
              <a:t>4. Kafka Produce (Result + Correlation ID)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589520" y="3749039"/>
            <a:ext cx="1828800" cy="3657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75520" y="4023360"/>
            <a:ext cx="2011680" cy="365760"/>
          </a:xfrm>
          <a:prstGeom prst="rect">
            <a:avLst/>
          </a:prstGeom>
          <a:solidFill>
            <a:srgbClr val="FEF08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1E293B"/>
                </a:solidFill>
                <a:latin typeface="Malgun Gothic"/>
              </a:defRPr>
            </a:pPr>
            <a:r>
              <a:t>Kafka Reply 토픽을</a:t>
            </a:r>
            <a:br/>
            <a:r>
              <a:t>구독 중이던 Pod B가 수신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43484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D9488"/>
                </a:solidFill>
                <a:latin typeface="Malgun Gothic"/>
              </a:defRPr>
            </a:pPr>
            <a:r>
              <a:t>5. Redis Publish (Result + Correlation ID)</a:t>
            </a:r>
          </a:p>
        </p:txBody>
      </p:sp>
      <p:sp>
        <p:nvSpPr>
          <p:cNvPr id="30" name="Left Arrow 29"/>
          <p:cNvSpPr/>
          <p:nvPr/>
        </p:nvSpPr>
        <p:spPr>
          <a:xfrm>
            <a:off x="3931920" y="4663440"/>
            <a:ext cx="7132320" cy="36576"/>
          </a:xfrm>
          <a:prstGeom prst="lef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4983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D9488"/>
                </a:solidFill>
                <a:latin typeface="Malgun Gothic"/>
              </a:defRPr>
            </a:pPr>
            <a:r>
              <a:t>6. Broadcast (Result + Correlation ID)</a:t>
            </a:r>
          </a:p>
        </p:txBody>
      </p:sp>
      <p:sp>
        <p:nvSpPr>
          <p:cNvPr id="32" name="Left Arrow 31"/>
          <p:cNvSpPr/>
          <p:nvPr/>
        </p:nvSpPr>
        <p:spPr>
          <a:xfrm>
            <a:off x="2194560" y="5212080"/>
            <a:ext cx="1737360" cy="36576"/>
          </a:xfrm>
          <a:prstGeom prst="lef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54406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D9488"/>
                </a:solidFill>
                <a:latin typeface="Malgun Gothic"/>
              </a:defRPr>
            </a:pPr>
            <a:r>
              <a:t>7. Broadcast (자기가 보낸 게 아니므로 무시)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931920" y="5669280"/>
            <a:ext cx="7132320" cy="36576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97280" y="5943600"/>
            <a:ext cx="2194560" cy="365760"/>
          </a:xfrm>
          <a:prstGeom prst="rect">
            <a:avLst/>
          </a:prstGeom>
          <a:solidFill>
            <a:srgbClr val="FEF08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1E293B"/>
                </a:solidFill>
                <a:latin typeface="Malgun Gothic"/>
              </a:defRPr>
            </a:pPr>
            <a:r>
              <a:t>"어? 내 Memory 사전에 있는</a:t>
            </a:r>
            <a:br/>
            <a:r>
              <a:t>Correlation ID다!" -&gt; 스레드 깨움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263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563EB"/>
                </a:solidFill>
                <a:latin typeface="Malgun Gothic"/>
              </a:defRPr>
            </a:pPr>
            <a:r>
              <a:t>8. HTTP 200 OK (최종 응답 전달)</a:t>
            </a:r>
          </a:p>
        </p:txBody>
      </p:sp>
      <p:sp>
        <p:nvSpPr>
          <p:cNvPr id="37" name="Left Arrow 36"/>
          <p:cNvSpPr/>
          <p:nvPr/>
        </p:nvSpPr>
        <p:spPr>
          <a:xfrm>
            <a:off x="548640" y="6492240"/>
            <a:ext cx="1645920" cy="36576"/>
          </a:xfrm>
          <a:prstGeom prst="lef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